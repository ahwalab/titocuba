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5E753-B61E-9205-E8CD-7C7BFBF21F03}" v="6" dt="2026-06-26T21:01:52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ta, Naman" userId="ed7546d2-cdc1-4289-9f79-ed0e14f7ea66" providerId="ADAL" clId="{A0F32960-96F9-4378-A379-31B635363C7F}"/>
    <pc:docChg chg="undo custSel addSld modSld">
      <pc:chgData name="Mehta, Naman" userId="ed7546d2-cdc1-4289-9f79-ed0e14f7ea66" providerId="ADAL" clId="{A0F32960-96F9-4378-A379-31B635363C7F}" dt="2026-06-10T18:58:30.243" v="858" actId="20577"/>
      <pc:docMkLst>
        <pc:docMk/>
      </pc:docMkLst>
      <pc:sldChg chg="addSp modSp add mod">
        <pc:chgData name="Mehta, Naman" userId="ed7546d2-cdc1-4289-9f79-ed0e14f7ea66" providerId="ADAL" clId="{A0F32960-96F9-4378-A379-31B635363C7F}" dt="2026-06-10T16:28:24.933" v="318" actId="1076"/>
        <pc:sldMkLst>
          <pc:docMk/>
          <pc:sldMk cId="2721220824" sldId="293"/>
        </pc:sldMkLst>
        <pc:spChg chg="mod">
          <ac:chgData name="Mehta, Naman" userId="ed7546d2-cdc1-4289-9f79-ed0e14f7ea66" providerId="ADAL" clId="{A0F32960-96F9-4378-A379-31B635363C7F}" dt="2026-06-10T16:24:25.991" v="22" actId="20577"/>
          <ac:spMkLst>
            <pc:docMk/>
            <pc:sldMk cId="2721220824" sldId="293"/>
            <ac:spMk id="2" creationId="{B02B4E7B-B104-5888-8F49-97E2C4988A3F}"/>
          </ac:spMkLst>
        </pc:spChg>
        <pc:spChg chg="mod">
          <ac:chgData name="Mehta, Naman" userId="ed7546d2-cdc1-4289-9f79-ed0e14f7ea66" providerId="ADAL" clId="{A0F32960-96F9-4378-A379-31B635363C7F}" dt="2026-06-10T16:27:46.999" v="316" actId="20577"/>
          <ac:spMkLst>
            <pc:docMk/>
            <pc:sldMk cId="2721220824" sldId="293"/>
            <ac:spMk id="5" creationId="{21CA758F-0490-B4A1-9499-9CD0AE0E51FC}"/>
          </ac:spMkLst>
        </pc:spChg>
        <pc:picChg chg="add mod">
          <ac:chgData name="Mehta, Naman" userId="ed7546d2-cdc1-4289-9f79-ed0e14f7ea66" providerId="ADAL" clId="{A0F32960-96F9-4378-A379-31B635363C7F}" dt="2026-06-10T16:28:24.933" v="318" actId="1076"/>
          <ac:picMkLst>
            <pc:docMk/>
            <pc:sldMk cId="2721220824" sldId="293"/>
            <ac:picMk id="4" creationId="{2161E99D-41A3-A0FB-86DF-002D097F14C0}"/>
          </ac:picMkLst>
        </pc:picChg>
      </pc:sldChg>
      <pc:sldChg chg="addSp delSp modSp add mod">
        <pc:chgData name="Mehta, Naman" userId="ed7546d2-cdc1-4289-9f79-ed0e14f7ea66" providerId="ADAL" clId="{A0F32960-96F9-4378-A379-31B635363C7F}" dt="2026-06-10T16:35:46.814" v="488" actId="1076"/>
        <pc:sldMkLst>
          <pc:docMk/>
          <pc:sldMk cId="3440892502" sldId="294"/>
        </pc:sldMkLst>
        <pc:spChg chg="mod">
          <ac:chgData name="Mehta, Naman" userId="ed7546d2-cdc1-4289-9f79-ed0e14f7ea66" providerId="ADAL" clId="{A0F32960-96F9-4378-A379-31B635363C7F}" dt="2026-06-10T16:35:15.497" v="486" actId="20577"/>
          <ac:spMkLst>
            <pc:docMk/>
            <pc:sldMk cId="3440892502" sldId="294"/>
            <ac:spMk id="5" creationId="{FAB78D4C-5960-CFD2-B2B4-E3A8602DAFBF}"/>
          </ac:spMkLst>
        </pc:spChg>
        <pc:picChg chg="add mod">
          <ac:chgData name="Mehta, Naman" userId="ed7546d2-cdc1-4289-9f79-ed0e14f7ea66" providerId="ADAL" clId="{A0F32960-96F9-4378-A379-31B635363C7F}" dt="2026-06-10T16:34:28.272" v="445" actId="1076"/>
          <ac:picMkLst>
            <pc:docMk/>
            <pc:sldMk cId="3440892502" sldId="294"/>
            <ac:picMk id="6" creationId="{58320B8F-6453-BFD3-25F6-E18DA61A589F}"/>
          </ac:picMkLst>
        </pc:picChg>
        <pc:picChg chg="add mod">
          <ac:chgData name="Mehta, Naman" userId="ed7546d2-cdc1-4289-9f79-ed0e14f7ea66" providerId="ADAL" clId="{A0F32960-96F9-4378-A379-31B635363C7F}" dt="2026-06-10T16:34:02.499" v="422" actId="1076"/>
          <ac:picMkLst>
            <pc:docMk/>
            <pc:sldMk cId="3440892502" sldId="294"/>
            <ac:picMk id="7" creationId="{63D6CD49-6C67-9117-A87C-2A6D640CB187}"/>
          </ac:picMkLst>
        </pc:picChg>
        <pc:picChg chg="add mod">
          <ac:chgData name="Mehta, Naman" userId="ed7546d2-cdc1-4289-9f79-ed0e14f7ea66" providerId="ADAL" clId="{A0F32960-96F9-4378-A379-31B635363C7F}" dt="2026-06-10T16:35:46.814" v="488" actId="1076"/>
          <ac:picMkLst>
            <pc:docMk/>
            <pc:sldMk cId="3440892502" sldId="294"/>
            <ac:picMk id="9" creationId="{1BE820BB-6B33-0ADB-8A29-8CC42D64C9C5}"/>
          </ac:picMkLst>
        </pc:picChg>
      </pc:sldChg>
      <pc:sldChg chg="add">
        <pc:chgData name="Mehta, Naman" userId="ed7546d2-cdc1-4289-9f79-ed0e14f7ea66" providerId="ADAL" clId="{A0F32960-96F9-4378-A379-31B635363C7F}" dt="2026-06-10T16:32:46.072" v="404" actId="2890"/>
        <pc:sldMkLst>
          <pc:docMk/>
          <pc:sldMk cId="3204753472" sldId="295"/>
        </pc:sldMkLst>
      </pc:sldChg>
      <pc:sldChg chg="addSp delSp modSp add mod">
        <pc:chgData name="Mehta, Naman" userId="ed7546d2-cdc1-4289-9f79-ed0e14f7ea66" providerId="ADAL" clId="{A0F32960-96F9-4378-A379-31B635363C7F}" dt="2026-06-10T18:46:00.913" v="696" actId="20577"/>
        <pc:sldMkLst>
          <pc:docMk/>
          <pc:sldMk cId="2648004283" sldId="296"/>
        </pc:sldMkLst>
        <pc:spChg chg="mod">
          <ac:chgData name="Mehta, Naman" userId="ed7546d2-cdc1-4289-9f79-ed0e14f7ea66" providerId="ADAL" clId="{A0F32960-96F9-4378-A379-31B635363C7F}" dt="2026-06-10T18:44:29.950" v="499" actId="20577"/>
          <ac:spMkLst>
            <pc:docMk/>
            <pc:sldMk cId="2648004283" sldId="296"/>
            <ac:spMk id="2" creationId="{FA5DEA50-0456-B2A6-521B-4E2127B1E949}"/>
          </ac:spMkLst>
        </pc:spChg>
        <pc:spChg chg="mod">
          <ac:chgData name="Mehta, Naman" userId="ed7546d2-cdc1-4289-9f79-ed0e14f7ea66" providerId="ADAL" clId="{A0F32960-96F9-4378-A379-31B635363C7F}" dt="2026-06-10T18:46:00.913" v="696" actId="20577"/>
          <ac:spMkLst>
            <pc:docMk/>
            <pc:sldMk cId="2648004283" sldId="296"/>
            <ac:spMk id="5" creationId="{4C6088F2-8F26-CA29-5EAA-94EC628C9EE7}"/>
          </ac:spMkLst>
        </pc:spChg>
        <pc:picChg chg="add mod">
          <ac:chgData name="Mehta, Naman" userId="ed7546d2-cdc1-4289-9f79-ed0e14f7ea66" providerId="ADAL" clId="{A0F32960-96F9-4378-A379-31B635363C7F}" dt="2026-06-10T18:45:36.903" v="604" actId="1076"/>
          <ac:picMkLst>
            <pc:docMk/>
            <pc:sldMk cId="2648004283" sldId="296"/>
            <ac:picMk id="4" creationId="{C23BC6C4-2C10-AF45-17BB-F9BCFA0561F9}"/>
          </ac:picMkLst>
        </pc:picChg>
      </pc:sldChg>
      <pc:sldChg chg="addSp delSp modSp add mod">
        <pc:chgData name="Mehta, Naman" userId="ed7546d2-cdc1-4289-9f79-ed0e14f7ea66" providerId="ADAL" clId="{A0F32960-96F9-4378-A379-31B635363C7F}" dt="2026-06-10T18:58:30.243" v="858" actId="20577"/>
        <pc:sldMkLst>
          <pc:docMk/>
          <pc:sldMk cId="108464305" sldId="297"/>
        </pc:sldMkLst>
        <pc:spChg chg="mod">
          <ac:chgData name="Mehta, Naman" userId="ed7546d2-cdc1-4289-9f79-ed0e14f7ea66" providerId="ADAL" clId="{A0F32960-96F9-4378-A379-31B635363C7F}" dt="2026-06-10T18:58:30.243" v="858" actId="20577"/>
          <ac:spMkLst>
            <pc:docMk/>
            <pc:sldMk cId="108464305" sldId="297"/>
            <ac:spMk id="5" creationId="{CAD311FB-54B1-0902-00ED-55583B69C572}"/>
          </ac:spMkLst>
        </pc:spChg>
        <pc:picChg chg="add mod">
          <ac:chgData name="Mehta, Naman" userId="ed7546d2-cdc1-4289-9f79-ed0e14f7ea66" providerId="ADAL" clId="{A0F32960-96F9-4378-A379-31B635363C7F}" dt="2026-06-10T18:57:18.772" v="763" actId="1076"/>
          <ac:picMkLst>
            <pc:docMk/>
            <pc:sldMk cId="108464305" sldId="297"/>
            <ac:picMk id="6" creationId="{C2F500E6-F643-9A34-D6E5-7C31A5C92159}"/>
          </ac:picMkLst>
        </pc:picChg>
      </pc:sldChg>
    </pc:docChg>
  </pc:docChgLst>
  <pc:docChgLst>
    <pc:chgData name="Mehta, Naman" userId="S::nammehta@uiowa.edu::ed7546d2-cdc1-4289-9f79-ed0e14f7ea66" providerId="AD" clId="Web-{79C5E753-B61E-9205-E8CD-7C7BFBF21F03}"/>
    <pc:docChg chg="modSld">
      <pc:chgData name="Mehta, Naman" userId="S::nammehta@uiowa.edu::ed7546d2-cdc1-4289-9f79-ed0e14f7ea66" providerId="AD" clId="Web-{79C5E753-B61E-9205-E8CD-7C7BFBF21F03}" dt="2026-06-26T21:01:46.375" v="4"/>
      <pc:docMkLst>
        <pc:docMk/>
      </pc:docMkLst>
      <pc:sldChg chg="addSp delSp modSp">
        <pc:chgData name="Mehta, Naman" userId="S::nammehta@uiowa.edu::ed7546d2-cdc1-4289-9f79-ed0e14f7ea66" providerId="AD" clId="Web-{79C5E753-B61E-9205-E8CD-7C7BFBF21F03}" dt="2026-06-26T21:01:46.375" v="4"/>
        <pc:sldMkLst>
          <pc:docMk/>
          <pc:sldMk cId="3892510878" sldId="258"/>
        </pc:sldMkLst>
        <pc:spChg chg="mod">
          <ac:chgData name="Mehta, Naman" userId="S::nammehta@uiowa.edu::ed7546d2-cdc1-4289-9f79-ed0e14f7ea66" providerId="AD" clId="Web-{79C5E753-B61E-9205-E8CD-7C7BFBF21F03}" dt="2026-06-26T21:01:43.469" v="3" actId="20577"/>
          <ac:spMkLst>
            <pc:docMk/>
            <pc:sldMk cId="3892510878" sldId="258"/>
            <ac:spMk id="2" creationId="{59480B23-7308-1745-A1A9-A5522BA49EE8}"/>
          </ac:spMkLst>
        </pc:spChg>
        <pc:spChg chg="add mod">
          <ac:chgData name="Mehta, Naman" userId="S::nammehta@uiowa.edu::ed7546d2-cdc1-4289-9f79-ed0e14f7ea66" providerId="AD" clId="Web-{79C5E753-B61E-9205-E8CD-7C7BFBF21F03}" dt="2026-06-26T21:01:46.375" v="4"/>
          <ac:spMkLst>
            <pc:docMk/>
            <pc:sldMk cId="3892510878" sldId="258"/>
            <ac:spMk id="4" creationId="{44D9FB24-1064-BD6E-CA4F-947E46FCE4DE}"/>
          </ac:spMkLst>
        </pc:spChg>
        <pc:spChg chg="del">
          <ac:chgData name="Mehta, Naman" userId="S::nammehta@uiowa.edu::ed7546d2-cdc1-4289-9f79-ed0e14f7ea66" providerId="AD" clId="Web-{79C5E753-B61E-9205-E8CD-7C7BFBF21F03}" dt="2026-06-26T21:01:46.375" v="4"/>
          <ac:spMkLst>
            <pc:docMk/>
            <pc:sldMk cId="3892510878" sldId="258"/>
            <ac:spMk id="6" creationId="{1CE593CA-8EBF-B5E2-9FB4-0811BDA0E1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C7B2B-E61B-42D1-A8F0-5291CD3DB52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79971-D9D5-4831-BCCE-A4A3C7C37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943EA-69D9-7E49-97CD-A49926F617C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031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C8E4-A0D2-B069-BAA7-2CD743AFD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40183-3547-3DC8-3AFB-180920840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D88A2-1D2F-FE42-523D-CCEF0C02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56AA8-8F53-306F-9306-092AB5F30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0B5AF-F405-53C1-42CB-016F35E2C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1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95FC-C762-FAC5-383C-C8834980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0CC25-E27D-8144-2238-5B9796B14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30C61-AB16-0861-6CA8-0FE186C6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E7C6-7163-5BBF-1404-B16CE4A7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7838F-D17E-390F-85E5-1CEBE266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8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817C-4762-38E7-9139-5CF2FF7D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8336F-4C78-0BDA-C65B-2927BEC19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AAA7E-92B1-B15B-F8D4-1108B67A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6E7FC-3BE8-B7C8-19F4-7C48CCDF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F2360-A668-BC96-2983-3FA7114D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18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E4CB-D958-E154-3EC2-E79210D9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5B40E-D69E-1602-B4F1-0AC673320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B2D0-A3C3-779F-6432-405CCA1F6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300B3-1629-DFEE-560C-5A286F5A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ADF95-36B2-F10A-47A0-0E86D6059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940BB-922A-C272-CE06-D703B0140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664C-04E2-930A-5EB7-38404F7D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DFAE9-8AA3-316E-9ADD-62C96D2E6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941AE-CA11-5C4C-7191-3739901F8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8D749-64B9-F5EA-44CE-8559B0E0D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DC335-83C5-3AB9-6C04-4BFE6994E7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C4F623-7C45-A656-067B-4E7F2196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5630E-F097-BFF0-2F4B-1C230A0E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F13372-120B-82F0-7966-506443380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4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2A0C-B938-EEC3-2BDB-12D8AA4FC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5B6FE-D390-EE12-E0AF-ED92F2B3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B45D0-5966-ABD9-C3CD-B89644BA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7E806-6730-622F-8063-B2BC6CEEE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4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303A07-83F0-1F5C-39B3-45455BCA9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775F9-538F-53D7-3FFE-EDA04B93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C7E1F-CA11-8868-F79E-2EF860DB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42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CF22-0400-83B7-ECA2-2525C8DA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32E6A-8269-F7C0-9BCB-5B28480B9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46EE0-1EB6-DBD3-8E6F-99E2AF163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08BD5-8C65-93DC-4F47-3801A354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D188D-A8EA-2941-8BE7-35CD2D1F4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BD01-90AC-0485-4B91-279BF9DB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8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93BD4-930E-B581-1220-2104A981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48D4E-6BD9-6672-6343-5D4D7AA86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6641E-D12B-86E9-5220-2E9F0BB35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C815A-2576-24B0-18EF-144A07CD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89FFB-4075-999B-7B15-48568D9F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E3CAA-6B63-9934-732A-3FE5FB02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9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973B-08EC-D214-E084-F14BF601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6A63A-4064-B0B7-5DA4-7BE17CBC1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3C40A-24FF-AB5E-78D1-223E11ED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B4249-82A1-773C-0E16-0F503CB0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63C23-C539-8792-0E51-6B249D744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31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205F-B230-F52F-1EE9-2CDA05E8A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901E9-D7CD-BB3A-564F-90FB83BDD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45F8B-BE57-F7AB-DAB7-F574ADD4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412FB-B973-810E-003D-FA8981A8D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AA0E6-332F-3C25-8AB2-E4CF8E26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93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4725" y="2677626"/>
            <a:ext cx="10354360" cy="1843238"/>
          </a:xfrm>
        </p:spPr>
        <p:txBody>
          <a:bodyPr lIns="0" tIns="0" rIns="0" bIns="0" anchor="t" anchorCtr="0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</a:t>
            </a:r>
            <a:br>
              <a:rPr lang="en-US" dirty="0"/>
            </a:br>
            <a:r>
              <a:rPr lang="en-US" dirty="0"/>
              <a:t>Right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 userDrawn="1"/>
        </p:nvCxnSpPr>
        <p:spPr>
          <a:xfrm>
            <a:off x="974126" y="2339665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74725" y="4709626"/>
            <a:ext cx="10354360" cy="40746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4725" y="5148794"/>
            <a:ext cx="10354360" cy="46310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2500" y="1774216"/>
            <a:ext cx="10376585" cy="36512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22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Insert-&gt;Header and Footer-&gt;Type Customizable Name</a:t>
            </a:r>
          </a:p>
        </p:txBody>
      </p:sp>
      <p:pic>
        <p:nvPicPr>
          <p:cNvPr id="12" name="Picture 11" descr="The University of Iowa">
            <a:extLst>
              <a:ext uri="{FF2B5EF4-FFF2-40B4-BE49-F238E27FC236}">
                <a16:creationId xmlns:a16="http://schemas.microsoft.com/office/drawing/2014/main" id="{A096FDD2-3609-3C49-9ED5-616F9E36D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25016" y="0"/>
            <a:ext cx="2693773" cy="127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71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E68DE55-0579-EC46-BD52-181870AF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 lIns="0" tIns="0" rIns="0" bIns="0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00BB2-D6D1-6642-8F66-9B4F37EC8187}"/>
              </a:ext>
            </a:extLst>
          </p:cNvPr>
          <p:cNvCxnSpPr>
            <a:cxnSpLocks/>
          </p:cNvCxnSpPr>
          <p:nvPr userDrawn="1"/>
        </p:nvCxnSpPr>
        <p:spPr>
          <a:xfrm>
            <a:off x="952498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35C2BC9-7AF3-6D49-8036-36D81872E84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52498" y="1686757"/>
            <a:ext cx="10251527" cy="4256843"/>
          </a:xfrm>
        </p:spPr>
        <p:txBody>
          <a:bodyPr lIns="0" tIns="0" rIns="0" bIns="0"/>
          <a:lstStyle>
            <a:lvl1pPr marL="228600" indent="-228600">
              <a:buClr>
                <a:schemeClr val="tx2"/>
              </a:buClr>
              <a:buSzPct val="95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6858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600200" indent="-228600">
              <a:buClr>
                <a:schemeClr val="tx2"/>
              </a:buClr>
              <a:buSzPct val="100000"/>
              <a:buFont typeface="Roboto" panose="02000000000000000000" pitchFamily="2" charset="0"/>
              <a:buChar char="―"/>
              <a:defRPr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2057400" indent="-22860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937044-371D-C149-9F72-3D8FBA4605CF}"/>
              </a:ext>
            </a:extLst>
          </p:cNvPr>
          <p:cNvSpPr/>
          <p:nvPr userDrawn="1"/>
        </p:nvSpPr>
        <p:spPr>
          <a:xfrm>
            <a:off x="0" y="6389511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 descr="The University of Iowa">
            <a:extLst>
              <a:ext uri="{FF2B5EF4-FFF2-40B4-BE49-F238E27FC236}">
                <a16:creationId xmlns:a16="http://schemas.microsoft.com/office/drawing/2014/main" id="{DC5F3A3D-928C-F445-ACB3-2C38F21F6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131555"/>
            <a:ext cx="1545021" cy="733885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2F140A7-DF6E-3245-BC22-1F0E9CFEE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853" y="6441192"/>
            <a:ext cx="8684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View &gt;&gt; Header and Footer &gt;&gt; Add Unit Name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89356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  <p15:guide id="2" pos="600">
          <p15:clr>
            <a:srgbClr val="FBAE40"/>
          </p15:clr>
        </p15:guide>
        <p15:guide id="3" pos="7080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105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24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DDD8E-A719-5D7C-2269-27E951F3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08A2B-89B7-CCC5-5684-6B6F20CDC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8C2B-FB44-D36F-371C-2BDEF3B0C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C6488-3A3B-4608-8F7E-E2EB97BA1DCB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52F74-3A22-1E7F-2C7A-9C2FF4C62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D6366-534F-2D1C-2EA7-B379BF343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2C668-A2D2-4995-B1AB-75B27518D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0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80B23-7308-1745-A1A9-A5522BA49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725" y="2677626"/>
            <a:ext cx="10354360" cy="1843238"/>
          </a:xfrm>
        </p:spPr>
        <p:txBody>
          <a:bodyPr>
            <a:normAutofit/>
          </a:bodyPr>
          <a:lstStyle/>
          <a:p>
            <a:r>
              <a:rPr lang="en-US" dirty="0">
                <a:latin typeface="Roboto"/>
                <a:ea typeface="Roboto"/>
                <a:cs typeface="Arial"/>
              </a:rPr>
              <a:t>TITO EF5 Simulation/</a:t>
            </a:r>
            <a:r>
              <a:rPr lang="en-US" dirty="0" err="1">
                <a:latin typeface="Roboto"/>
                <a:ea typeface="Roboto"/>
                <a:cs typeface="Arial"/>
              </a:rPr>
              <a:t>Ouputs</a:t>
            </a:r>
            <a:r>
              <a:rPr lang="en-US" dirty="0">
                <a:latin typeface="Roboto"/>
                <a:ea typeface="Roboto"/>
                <a:cs typeface="Arial"/>
              </a:rPr>
              <a:t> info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4D9FB24-1064-BD6E-CA4F-947E46FCE4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1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CBB2-F610-40B4-A124-363EF63E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First Run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012A75-C2C6-E070-A064-CFFEFA30570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1632922"/>
            <a:ext cx="6276161" cy="425608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A71758-2B55-536E-AEF5-B29A7C834B5F}"/>
              </a:ext>
            </a:extLst>
          </p:cNvPr>
          <p:cNvSpPr txBox="1"/>
          <p:nvPr/>
        </p:nvSpPr>
        <p:spPr>
          <a:xfrm>
            <a:off x="7506268" y="1632922"/>
            <a:ext cx="42853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Start with warmup states or run a warmup for 3 months to 1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always save the states at the latest IMERG which comes with a delay of 4 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fill the delay from -4hour(last latest IMERG) till the current time/simulation time with nowcasting Convolutional LSTM (</a:t>
            </a:r>
            <a:r>
              <a:rPr lang="en-US" dirty="0" err="1"/>
              <a:t>ConvLSTM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then switch to Forecast/Long Range mode using GFS and run a forecast till +24 hours.</a:t>
            </a:r>
          </a:p>
        </p:txBody>
      </p:sp>
    </p:spTree>
    <p:extLst>
      <p:ext uri="{BB962C8B-B14F-4D97-AF65-F5344CB8AC3E}">
        <p14:creationId xmlns:p14="http://schemas.microsoft.com/office/powerpoint/2010/main" val="214787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B032-E6A8-A4B7-E2CE-43C41A88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5D7A-E8B5-FC4C-2D1F-F03989DB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Second Run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E8AF70-5548-E1C0-B212-C5ED1F711F05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499" y="1632922"/>
            <a:ext cx="6276161" cy="425608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1C6FA-2487-BC83-80A2-9E77CED40A50}"/>
              </a:ext>
            </a:extLst>
          </p:cNvPr>
          <p:cNvSpPr txBox="1"/>
          <p:nvPr/>
        </p:nvSpPr>
        <p:spPr>
          <a:xfrm>
            <a:off x="7506268" y="1632922"/>
            <a:ext cx="42853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the next runs we start from the saved states from the last run, at this point we get 1 hour of new IMERG.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again save the states at -4 hour on the latest IMERG.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everything is same.</a:t>
            </a:r>
          </a:p>
        </p:txBody>
      </p:sp>
    </p:spTree>
    <p:extLst>
      <p:ext uri="{BB962C8B-B14F-4D97-AF65-F5344CB8AC3E}">
        <p14:creationId xmlns:p14="http://schemas.microsoft.com/office/powerpoint/2010/main" val="228887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A9C0-C351-7780-2021-E448D371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0A63-2EF9-AC42-8B6C-C855E355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Second Run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B8BD52-54C8-CBC3-CF67-ADB51393CF19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2499" y="1632922"/>
            <a:ext cx="6276161" cy="425608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A5DC93-6847-FF0F-96E2-C7156AFD91F4}"/>
              </a:ext>
            </a:extLst>
          </p:cNvPr>
          <p:cNvSpPr txBox="1"/>
          <p:nvPr/>
        </p:nvSpPr>
        <p:spPr>
          <a:xfrm>
            <a:off x="7506268" y="1632922"/>
            <a:ext cx="42853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the next runs we start from the saved states from the last run, at this point we get 1 hour of new IMERG.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again save the states at -4 hour on the latest IMERG.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Rest everything is same.</a:t>
            </a:r>
          </a:p>
        </p:txBody>
      </p:sp>
    </p:spTree>
    <p:extLst>
      <p:ext uri="{BB962C8B-B14F-4D97-AF65-F5344CB8AC3E}">
        <p14:creationId xmlns:p14="http://schemas.microsoft.com/office/powerpoint/2010/main" val="233045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CE45-9C86-8650-A695-5D3D6626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C9B8-EF96-DCDF-472C-9BA6F599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2DC92-0A0F-B005-67C5-D99058842F0C}"/>
              </a:ext>
            </a:extLst>
          </p:cNvPr>
          <p:cNvSpPr txBox="1"/>
          <p:nvPr/>
        </p:nvSpPr>
        <p:spPr>
          <a:xfrm>
            <a:off x="952499" y="1589964"/>
            <a:ext cx="111052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Each Simulation produces the below outputs</a:t>
            </a:r>
          </a:p>
          <a:p>
            <a:pPr lvl="1"/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Max Unit Stream Flow </a:t>
            </a:r>
            <a:r>
              <a:rPr lang="en-US" dirty="0"/>
              <a:t>(m³/Sec/Km²).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Max Stream Flow </a:t>
            </a:r>
            <a:r>
              <a:rPr lang="en-US" dirty="0"/>
              <a:t>(m³/Sec).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Max Soil Moisture </a:t>
            </a:r>
            <a:r>
              <a:rPr lang="en-US" dirty="0"/>
              <a:t>(0 – 100 %).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QPE:</a:t>
            </a:r>
            <a:r>
              <a:rPr lang="it-IT" dirty="0"/>
              <a:t> Quantitative Precipitation Estimation accumulated </a:t>
            </a:r>
            <a:r>
              <a:rPr lang="it-IT" i="1" dirty="0"/>
              <a:t>(via IMERG + Nowcasting).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QPF:</a:t>
            </a:r>
            <a:r>
              <a:rPr lang="it-IT" dirty="0"/>
              <a:t> Quantitative Precipitation Forecast accumulated </a:t>
            </a:r>
            <a:r>
              <a:rPr lang="it-IT" i="1" dirty="0"/>
              <a:t>(via GFS).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Max Depth: </a:t>
            </a:r>
            <a:r>
              <a:rPr lang="it-IT" dirty="0"/>
              <a:t>Inundation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9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1B7A-5B8B-693D-765F-276E0EB07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B4E7B-B104-5888-8F49-97E2C498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Geo Tiffs Metadata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A758F-0490-B4A1-9499-9CD0AE0E51FC}"/>
              </a:ext>
            </a:extLst>
          </p:cNvPr>
          <p:cNvSpPr txBox="1"/>
          <p:nvPr/>
        </p:nvSpPr>
        <p:spPr>
          <a:xfrm>
            <a:off x="952499" y="1589964"/>
            <a:ext cx="111052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Each Geotiff consist of meta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Metadata consist of simulation begin and end date timestamp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Example for a simulation run at 202606101600 has:</a:t>
            </a:r>
          </a:p>
          <a:p>
            <a:pPr lvl="1"/>
            <a:r>
              <a:rPr lang="it-IT" dirty="0"/>
              <a:t>Start – 202606101100</a:t>
            </a:r>
          </a:p>
          <a:p>
            <a:pPr lvl="1"/>
            <a:r>
              <a:rPr lang="it-IT" dirty="0"/>
              <a:t>IMERG_End – 202606101600</a:t>
            </a:r>
          </a:p>
          <a:p>
            <a:pPr lvl="1"/>
            <a:r>
              <a:rPr lang="it-IT" dirty="0"/>
              <a:t>GFS_Begin - 202606101600</a:t>
            </a:r>
          </a:p>
          <a:p>
            <a:pPr lvl="1"/>
            <a:r>
              <a:rPr lang="it-IT" dirty="0"/>
              <a:t>End – 202606112200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Meta data from </a:t>
            </a:r>
          </a:p>
          <a:p>
            <a:pPr lvl="1"/>
            <a:r>
              <a:rPr lang="it-IT" dirty="0"/>
              <a:t>Max Unit Stream Flow</a:t>
            </a:r>
          </a:p>
          <a:p>
            <a:pPr lvl="1"/>
            <a:endParaRPr lang="it-IT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1E99D-41A3-A0FB-86DF-002D097F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42" y="4895789"/>
            <a:ext cx="3515216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2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E3493-78C7-8482-34F8-ADA797CF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AA85-4828-F44F-3055-9E192604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Geo Tiffs Metadata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78D4C-5960-CFD2-B2B4-E3A8602DAFBF}"/>
              </a:ext>
            </a:extLst>
          </p:cNvPr>
          <p:cNvSpPr txBox="1"/>
          <p:nvPr/>
        </p:nvSpPr>
        <p:spPr>
          <a:xfrm>
            <a:off x="952499" y="1570914"/>
            <a:ext cx="1110529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it-IT" sz="2000" b="1" dirty="0"/>
              <a:t>Meta data from :</a:t>
            </a:r>
          </a:p>
          <a:p>
            <a:pPr lvl="1"/>
            <a:r>
              <a:rPr lang="it-IT" b="1" dirty="0"/>
              <a:t>Max Unit Stream Flow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r>
              <a:rPr lang="it-IT" b="1" dirty="0"/>
              <a:t>QPE Accum (Coming from IMERG + Nowcasting)</a:t>
            </a:r>
          </a:p>
          <a:p>
            <a:pPr lvl="1"/>
            <a:endParaRPr lang="it-IT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</a:t>
            </a:r>
          </a:p>
          <a:p>
            <a:r>
              <a:rPr lang="en-US" b="1" dirty="0"/>
              <a:t>          </a:t>
            </a:r>
            <a:r>
              <a:rPr lang="it-IT" b="1" dirty="0"/>
              <a:t>QPF Accum (Coming from GFS)</a:t>
            </a:r>
          </a:p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20B8F-6453-BFD3-25F6-E18DA61A5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26" y="3630283"/>
            <a:ext cx="3562847" cy="724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D6CD49-6C67-9117-A87C-2A6D640C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26" y="2213436"/>
            <a:ext cx="3515216" cy="876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820BB-6B33-0ADB-8A29-8CC42D64C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126" y="5165995"/>
            <a:ext cx="351521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9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4348F-21D1-F28C-54AB-BDA0A3C4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16ED5-A793-A955-D21B-E4486457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Geo Tiffs Metadata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A8ECE3-BF2D-B85D-5CCA-5349021BA9C8}"/>
              </a:ext>
            </a:extLst>
          </p:cNvPr>
          <p:cNvSpPr txBox="1"/>
          <p:nvPr/>
        </p:nvSpPr>
        <p:spPr>
          <a:xfrm>
            <a:off x="952499" y="1589964"/>
            <a:ext cx="1110529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b="1" dirty="0"/>
              <a:t>Each Geotiff consist of meta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Metadata consist of simulation begin and end date timestamp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Example for a simulation run at 202606101600 has:</a:t>
            </a:r>
          </a:p>
          <a:p>
            <a:pPr lvl="1"/>
            <a:r>
              <a:rPr lang="it-IT" dirty="0"/>
              <a:t>Start – 202606101100</a:t>
            </a:r>
          </a:p>
          <a:p>
            <a:pPr lvl="1"/>
            <a:r>
              <a:rPr lang="it-IT" dirty="0"/>
              <a:t>IMERG_End – 202606101600</a:t>
            </a:r>
          </a:p>
          <a:p>
            <a:pPr lvl="1"/>
            <a:r>
              <a:rPr lang="it-IT" dirty="0"/>
              <a:t>GFS_Begin - 202606101600</a:t>
            </a:r>
          </a:p>
          <a:p>
            <a:pPr lvl="1"/>
            <a:r>
              <a:rPr lang="it-IT" dirty="0"/>
              <a:t>End – 202606112200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Meta data from </a:t>
            </a:r>
          </a:p>
          <a:p>
            <a:pPr lvl="1"/>
            <a:r>
              <a:rPr lang="it-IT" dirty="0"/>
              <a:t>QPE Accum (Coming from IMERG + Nowcasting)</a:t>
            </a:r>
          </a:p>
          <a:p>
            <a:pPr lvl="1"/>
            <a:endParaRPr lang="it-IT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30EBEB-50EA-24F5-7045-9BA229AF5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026" y="4921282"/>
            <a:ext cx="3562847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53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527B-612A-EEAD-A264-541F3DD2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DEA50-0456-B2A6-521B-4E2127B1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Timeseries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088F2-8F26-CA29-5EAA-94EC628C9EE7}"/>
              </a:ext>
            </a:extLst>
          </p:cNvPr>
          <p:cNvSpPr txBox="1"/>
          <p:nvPr/>
        </p:nvSpPr>
        <p:spPr>
          <a:xfrm>
            <a:off x="952499" y="1589964"/>
            <a:ext cx="1110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the outputs we also get timeseries across below selected locations in the form of csv’s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BC6C4-2C10-AF45-17BB-F9BCFA056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50" y="2318494"/>
            <a:ext cx="11105298" cy="37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0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2CA94-B641-80F3-7BFB-6434A4B6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E225-CA1B-1223-9F11-FD9F9A52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526777"/>
            <a:ext cx="10287001" cy="869089"/>
          </a:xfrm>
        </p:spPr>
        <p:txBody>
          <a:bodyPr/>
          <a:lstStyle/>
          <a:p>
            <a:r>
              <a:rPr lang="en-US" dirty="0"/>
              <a:t>Timeseries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311FB-54B1-0902-00ED-55583B69C572}"/>
              </a:ext>
            </a:extLst>
          </p:cNvPr>
          <p:cNvSpPr txBox="1"/>
          <p:nvPr/>
        </p:nvSpPr>
        <p:spPr>
          <a:xfrm>
            <a:off x="4527551" y="1596314"/>
            <a:ext cx="75302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Each CSV contains the below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 Stamp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Discharge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Observed (not applicable)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Precipitation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 Flow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Slow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F500E6-F643-9A34-D6E5-7C31A5C92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1596314"/>
            <a:ext cx="3515711" cy="40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AF5918B340EE42BEDD0C5488C4F170" ma:contentTypeVersion="11" ma:contentTypeDescription="Create a new document." ma:contentTypeScope="" ma:versionID="bebd0d781efb5a9ca7a138aa4051156e">
  <xsd:schema xmlns:xsd="http://www.w3.org/2001/XMLSchema" xmlns:xs="http://www.w3.org/2001/XMLSchema" xmlns:p="http://schemas.microsoft.com/office/2006/metadata/properties" xmlns:ns2="e2dadc6c-be36-4cc9-abbd-c1f255d8fca8" targetNamespace="http://schemas.microsoft.com/office/2006/metadata/properties" ma:root="true" ma:fieldsID="02fd199a1809ae806fc84042b99fc28b" ns2:_="">
    <xsd:import namespace="e2dadc6c-be36-4cc9-abbd-c1f255d8fc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OCR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dadc6c-be36-4cc9-abbd-c1f255d8fc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dadc6c-be36-4cc9-abbd-c1f255d8fca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BE5CD45-561E-471D-8AD3-926D59BAFE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dadc6c-be36-4cc9-abbd-c1f255d8fc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4255E9-7A58-4C80-A1DF-D8C1F6687E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B3321C-907D-48D4-89CC-B2ADAEE53299}">
  <ds:schemaRefs>
    <ds:schemaRef ds:uri="http://schemas.microsoft.com/office/2006/metadata/properties"/>
    <ds:schemaRef ds:uri="http://schemas.microsoft.com/office/infopath/2007/PartnerControls"/>
    <ds:schemaRef ds:uri="e2dadc6c-be36-4cc9-abbd-c1f255d8fc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418</Words>
  <Application>Microsoft Office PowerPoint</Application>
  <PresentationFormat>Widescreen</PresentationFormat>
  <Paragraphs>74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TITO EF5 Simulation/Ouputs info</vt:lpstr>
      <vt:lpstr>First Run</vt:lpstr>
      <vt:lpstr>Second Run</vt:lpstr>
      <vt:lpstr>Second Run</vt:lpstr>
      <vt:lpstr>Outputs</vt:lpstr>
      <vt:lpstr>Geo Tiffs Metadata </vt:lpstr>
      <vt:lpstr>Geo Tiffs Metadata </vt:lpstr>
      <vt:lpstr>Geo Tiffs Metadata </vt:lpstr>
      <vt:lpstr>Timeseries</vt:lpstr>
      <vt:lpstr>Timeseries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Mehta, Naman</dc:creator>
  <cp:lastModifiedBy>Mehta, Naman</cp:lastModifiedBy>
  <cp:revision>4</cp:revision>
  <dcterms:created xsi:type="dcterms:W3CDTF">2026-06-10T13:40:46Z</dcterms:created>
  <dcterms:modified xsi:type="dcterms:W3CDTF">2026-06-26T21:01:55Z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0x01010096AF5918B340EE42BEDD0C5488C4F170</vt:lpwstr>
  </property>
  <property fmtid="{D5CDD505-2E9C-101B-9397-08002B2CF9AE}" pid="3" name="MediaServiceImageTags">
    <vt:lpwstr/>
  </property>
</Properties>
</file>